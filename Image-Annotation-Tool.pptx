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4.svg" ContentType="image/svg+xml"/>
  <Override PartName="/ppt/media/image5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SimSun" panose="02010600030101010101" pitchFamily="2" charset="-122"/>
      <p:regular r:id="rId17"/>
    </p:embeddedFont>
    <p:embeddedFont>
      <p:font typeface="Verdana" panose="020B0604030504040204" charset="0"/>
      <p:regular r:id="rId18"/>
      <p:bold r:id="rId19"/>
      <p:italic r:id="rId20"/>
      <p:boldItalic r:id="rId21"/>
    </p:embeddedFont>
    <p:embeddedFont>
      <p:font typeface="Roboto" panose="02000000000000000000" pitchFamily="34" charset="0"/>
      <p:regular r:id="rId22"/>
    </p:embeddedFont>
    <p:embeddedFont>
      <p:font typeface="Roboto" panose="02000000000000000000" pitchFamily="34" charset="-122"/>
      <p:regular r:id="rId23"/>
    </p:embeddedFont>
    <p:embeddedFont>
      <p:font typeface="Roboto" panose="02000000000000000000" pitchFamily="34" charset="-120"/>
      <p:regular r:id="rId24"/>
    </p:embeddedFont>
    <p:embeddedFont>
      <p:font typeface="Consolas" panose="020B0609020204030204" pitchFamily="34" charset="0"/>
      <p:regular r:id="rId25"/>
      <p:bold r:id="rId26"/>
      <p:italic r:id="rId27"/>
      <p:boldItalic r:id="rId28"/>
    </p:embeddedFont>
    <p:embeddedFont>
      <p:font typeface="Consolas" panose="020B0609020204030204" pitchFamily="34" charset="-122"/>
      <p:regular r:id="rId29"/>
    </p:embeddedFont>
    <p:embeddedFont>
      <p:font typeface="Consolas" panose="020B0609020204030204" pitchFamily="34" charset="-120"/>
      <p:regular r:id="rId30"/>
    </p:embeddedFont>
    <p:embeddedFont>
      <p:font typeface="Calibri" panose="020F0502020204030204" charset="0"/>
      <p:regular r:id="rId31"/>
      <p:bold r:id="rId32"/>
      <p:italic r:id="rId33"/>
      <p:boldItalic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D7D7"/>
    <a:srgbClr val="E1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font" Target="fonts/font18.fntdata"/><Relationship Id="rId33" Type="http://schemas.openxmlformats.org/officeDocument/2006/relationships/font" Target="fonts/font17.fntdata"/><Relationship Id="rId32" Type="http://schemas.openxmlformats.org/officeDocument/2006/relationships/font" Target="fonts/font16.fntdata"/><Relationship Id="rId31" Type="http://schemas.openxmlformats.org/officeDocument/2006/relationships/font" Target="fonts/font15.fntdata"/><Relationship Id="rId30" Type="http://schemas.openxmlformats.org/officeDocument/2006/relationships/font" Target="fonts/font14.fntdata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76501" y="2042160"/>
            <a:ext cx="11054080" cy="1299210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76501" y="3512820"/>
            <a:ext cx="11061699" cy="210312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1520" y="7494270"/>
            <a:ext cx="341376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98720" y="7494270"/>
            <a:ext cx="463296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485120" y="7494270"/>
            <a:ext cx="341376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A3D971-BD08-4105-986D-4E62801DB79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5507356"/>
            <a:ext cx="12618720" cy="1800224"/>
          </a:xfrm>
        </p:spPr>
        <p:txBody>
          <a:bodyPr/>
          <a:lstStyle>
            <a:lvl1pPr marL="0" indent="0">
              <a:buNone/>
              <a:defRPr sz="2880"/>
            </a:lvl1pPr>
            <a:lvl2pPr marL="548640" indent="0">
              <a:buNone/>
              <a:defRPr sz="2400"/>
            </a:lvl2pPr>
            <a:lvl3pPr marL="1097280" indent="0">
              <a:buNone/>
              <a:defRPr sz="216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409700"/>
            <a:ext cx="6461760" cy="5943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7120" y="1409700"/>
            <a:ext cx="6461760" cy="5943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1" y="438150"/>
            <a:ext cx="12618720" cy="159067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8381" y="2017396"/>
            <a:ext cx="6189979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8381" y="3006090"/>
            <a:ext cx="6189979" cy="44215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20461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20461" cy="44215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1" y="548640"/>
            <a:ext cx="4719320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0461" y="1184910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8381" y="2468880"/>
            <a:ext cx="4719320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1" y="548640"/>
            <a:ext cx="4719320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20461" y="1184910"/>
            <a:ext cx="7406640" cy="58483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8381" y="2468880"/>
            <a:ext cx="4719320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0" y="228600"/>
            <a:ext cx="3291840" cy="71247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20" y="228600"/>
            <a:ext cx="9631680" cy="71247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image" Target="../media/image2.jpeg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-10160" y="0"/>
            <a:ext cx="14640560" cy="822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731520" y="228600"/>
            <a:ext cx="13167360" cy="699136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731520" y="1409700"/>
            <a:ext cx="13167360" cy="5943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1520" y="7494270"/>
            <a:ext cx="341376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68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98720" y="7494270"/>
            <a:ext cx="463296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68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485120" y="7494270"/>
            <a:ext cx="341376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68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32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411480" indent="-411480" algn="l" rtl="0" fontAlgn="base">
        <a:spcBef>
          <a:spcPct val="24000"/>
        </a:spcBef>
        <a:spcAft>
          <a:spcPct val="0"/>
        </a:spcAft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rtl="0" fontAlgn="base">
        <a:spcBef>
          <a:spcPct val="24000"/>
        </a:spcBef>
        <a:spcAft>
          <a:spcPct val="0"/>
        </a:spcAft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rtl="0" fontAlgn="base">
        <a:spcBef>
          <a:spcPct val="24000"/>
        </a:spcBef>
        <a:spcAft>
          <a:spcPct val="0"/>
        </a:spcAft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rtl="0" fontAlgn="base">
        <a:spcBef>
          <a:spcPct val="24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rtl="0" fontAlgn="base">
        <a:spcBef>
          <a:spcPct val="24000"/>
        </a:spcBef>
        <a:spcAft>
          <a:spcPct val="0"/>
        </a:spcAft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2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tags" Target="../tags/tag12.xml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18.xml"/><Relationship Id="rId2" Type="http://schemas.openxmlformats.org/officeDocument/2006/relationships/tags" Target="../tags/tag11.xml"/><Relationship Id="rId19" Type="http://schemas.openxmlformats.org/officeDocument/2006/relationships/tags" Target="../tags/tag24.xml"/><Relationship Id="rId18" Type="http://schemas.openxmlformats.org/officeDocument/2006/relationships/tags" Target="../tags/tag23.xml"/><Relationship Id="rId17" Type="http://schemas.openxmlformats.org/officeDocument/2006/relationships/image" Target="../media/image6.svg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image" Target="../media/image5.svg"/><Relationship Id="rId10" Type="http://schemas.openxmlformats.org/officeDocument/2006/relationships/tags" Target="../tags/tag17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6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8" Type="http://schemas.openxmlformats.org/officeDocument/2006/relationships/notesSlide" Target="../notesSlides/notesSlide10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1128" y="2270323"/>
            <a:ext cx="610802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Image Annotation Tool</a:t>
            </a:r>
            <a:endParaRPr lang="en-US" sz="4450" dirty="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319264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 desktop application for intuitive image annotation, built with Python, Tkinter and PIL.</a:t>
            </a:r>
            <a:endParaRPr lang="en-US" sz="2000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5" name="Text 1"/>
          <p:cNvSpPr/>
          <p:nvPr/>
        </p:nvSpPr>
        <p:spPr>
          <a:xfrm>
            <a:off x="920750" y="4145915"/>
            <a:ext cx="13042900" cy="8921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34" charset="-122"/>
                <a:cs typeface="Arial" panose="020B0604020202020204" pitchFamily="34" charset="0"/>
              </a:rPr>
              <a:t>Presented by: U. Aldred Ndaeyo</a:t>
            </a:r>
            <a:endParaRPr lang="en-US" sz="17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34" charset="-122"/>
              <a:cs typeface="Arial" panose="020B0604020202020204" pitchFamily="34" charset="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VUG/SEN/24/11249</a:t>
            </a:r>
            <a:endParaRPr lang="en-US" sz="17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14374"/>
            <a:ext cx="8959096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B1B27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The Challenge: Manual Image Annotation</a:t>
            </a:r>
            <a:endParaRPr lang="en-US" sz="3550" dirty="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793790" y="3521512"/>
            <a:ext cx="4196358" cy="2093714"/>
          </a:xfrm>
          <a:prstGeom prst="roundRect">
            <a:avLst>
              <a:gd name="adj" fmla="val 455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1051084" y="377880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Time-Consuming</a:t>
            </a:r>
            <a:endParaRPr lang="en-US" sz="2200" b="1" dirty="0">
              <a:solidFill>
                <a:srgbClr val="3C3939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1051084" y="4269224"/>
            <a:ext cx="3681770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Manually annotating images is often slow and repetitive, especially for large datasets.</a:t>
            </a:r>
            <a:endParaRPr lang="en-US" sz="1750" dirty="0"/>
          </a:p>
        </p:txBody>
      </p:sp>
      <p:sp>
        <p:nvSpPr>
          <p:cNvPr id="6" name="Shape 4"/>
          <p:cNvSpPr/>
          <p:nvPr>
            <p:custDataLst>
              <p:tags r:id="rId4"/>
            </p:custDataLst>
          </p:nvPr>
        </p:nvSpPr>
        <p:spPr>
          <a:xfrm>
            <a:off x="5216962" y="3521512"/>
            <a:ext cx="4196358" cy="2093714"/>
          </a:xfrm>
          <a:prstGeom prst="roundRect">
            <a:avLst>
              <a:gd name="adj" fmla="val 455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5474256" y="377880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Lack of Precision</a:t>
            </a:r>
            <a:endParaRPr lang="en-US" sz="2200" b="1" dirty="0">
              <a:solidFill>
                <a:srgbClr val="3C3939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5474256" y="4269224"/>
            <a:ext cx="3681770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Achieving accurate and consistent annotations without specialized tools can be difficult.</a:t>
            </a:r>
            <a:endParaRPr lang="en-US" sz="1750" dirty="0"/>
          </a:p>
        </p:txBody>
      </p:sp>
      <p:sp>
        <p:nvSpPr>
          <p:cNvPr id="9" name="Shape 7"/>
          <p:cNvSpPr/>
          <p:nvPr>
            <p:custDataLst>
              <p:tags r:id="rId7"/>
            </p:custDataLst>
          </p:nvPr>
        </p:nvSpPr>
        <p:spPr>
          <a:xfrm>
            <a:off x="9640133" y="3521512"/>
            <a:ext cx="4196358" cy="2093714"/>
          </a:xfrm>
          <a:prstGeom prst="roundRect">
            <a:avLst>
              <a:gd name="adj" fmla="val 455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9897427" y="377880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Limited Scope</a:t>
            </a:r>
            <a:endParaRPr lang="en-US" sz="2200" b="1" dirty="0">
              <a:solidFill>
                <a:srgbClr val="3C3939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9897427" y="4269224"/>
            <a:ext cx="3681770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Traditional methods lack features for complex annotations like measurements or specific shapes.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8926"/>
            <a:ext cx="4536519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B1B27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Project Objectives</a:t>
            </a:r>
            <a:endParaRPr lang="en-US" sz="3550" b="1" dirty="0">
              <a:solidFill>
                <a:srgbClr val="1B1B27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289691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93790" y="2259211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</p:spPr>
      </p:sp>
      <p:sp>
        <p:nvSpPr>
          <p:cNvPr id="5" name="Shape 3"/>
          <p:cNvSpPr/>
          <p:nvPr/>
        </p:nvSpPr>
        <p:spPr>
          <a:xfrm>
            <a:off x="2551688" y="194952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</p:spPr>
      </p:sp>
      <p:sp>
        <p:nvSpPr>
          <p:cNvPr id="6" name="Text 4"/>
          <p:cNvSpPr/>
          <p:nvPr/>
        </p:nvSpPr>
        <p:spPr>
          <a:xfrm>
            <a:off x="2804656" y="2011085"/>
            <a:ext cx="272177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1</a:t>
            </a:r>
            <a:endParaRPr lang="en-US" sz="2100" b="1" dirty="0">
              <a:solidFill>
                <a:srgbClr val="FFFFFF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084" y="285666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Image Display</a:t>
            </a:r>
            <a:endParaRPr lang="en-US" sz="2200" b="1" dirty="0">
              <a:solidFill>
                <a:srgbClr val="3C3939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084" y="3347085"/>
            <a:ext cx="3681770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Develop a robust system to load and accurately display various image formats.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289691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5216962" y="2259211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</p:spPr>
      </p:sp>
      <p:sp>
        <p:nvSpPr>
          <p:cNvPr id="11" name="Shape 9"/>
          <p:cNvSpPr/>
          <p:nvPr/>
        </p:nvSpPr>
        <p:spPr>
          <a:xfrm>
            <a:off x="6974860" y="194952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</p:spPr>
      </p:sp>
      <p:sp>
        <p:nvSpPr>
          <p:cNvPr id="12" name="Text 10"/>
          <p:cNvSpPr/>
          <p:nvPr/>
        </p:nvSpPr>
        <p:spPr>
          <a:xfrm>
            <a:off x="7207508" y="2028865"/>
            <a:ext cx="272177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2</a:t>
            </a:r>
            <a:endParaRPr lang="en-US" sz="2100" b="1" dirty="0">
              <a:solidFill>
                <a:srgbClr val="FFFFFF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74256" y="2856667"/>
            <a:ext cx="2963228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Annotate with Shapes</a:t>
            </a:r>
            <a:endParaRPr lang="en-US" sz="2200" b="1" dirty="0">
              <a:solidFill>
                <a:srgbClr val="3C3939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74256" y="3347085"/>
            <a:ext cx="3681770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Enable users to draw geometric shapes (rectangles, lines, circles) directly onto images.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2289691"/>
            <a:ext cx="4196358" cy="2403396"/>
          </a:xfrm>
          <a:prstGeom prst="roundRect">
            <a:avLst>
              <a:gd name="adj" fmla="val 6087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9640133" y="2259211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</p:spPr>
      </p:sp>
      <p:sp>
        <p:nvSpPr>
          <p:cNvPr id="17" name="Shape 15"/>
          <p:cNvSpPr/>
          <p:nvPr/>
        </p:nvSpPr>
        <p:spPr>
          <a:xfrm>
            <a:off x="11398032" y="194952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</p:spPr>
      </p:sp>
      <p:sp>
        <p:nvSpPr>
          <p:cNvPr id="18" name="Text 16"/>
          <p:cNvSpPr/>
          <p:nvPr/>
        </p:nvSpPr>
        <p:spPr>
          <a:xfrm>
            <a:off x="11640205" y="2029500"/>
            <a:ext cx="272177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3</a:t>
            </a:r>
            <a:endParaRPr lang="en-US" sz="2100" b="1" dirty="0">
              <a:solidFill>
                <a:srgbClr val="FFFFFF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897427" y="285666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Add Text Labels</a:t>
            </a:r>
            <a:endParaRPr lang="en-US" sz="2200" b="1" dirty="0">
              <a:solidFill>
                <a:srgbClr val="3C3939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897427" y="3347085"/>
            <a:ext cx="3681770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Implement functionality for placing customizable text annotations at specific points.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93790" y="5260062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793790" y="5229582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</p:spPr>
      </p:sp>
      <p:sp>
        <p:nvSpPr>
          <p:cNvPr id="23" name="Shape 21"/>
          <p:cNvSpPr/>
          <p:nvPr/>
        </p:nvSpPr>
        <p:spPr>
          <a:xfrm>
            <a:off x="3657540" y="491990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</p:spPr>
      </p:sp>
      <p:sp>
        <p:nvSpPr>
          <p:cNvPr id="24" name="Text 22"/>
          <p:cNvSpPr/>
          <p:nvPr/>
        </p:nvSpPr>
        <p:spPr>
          <a:xfrm>
            <a:off x="3890189" y="5010031"/>
            <a:ext cx="272177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4</a:t>
            </a:r>
            <a:endParaRPr lang="en-US" sz="2100" b="1" dirty="0">
              <a:solidFill>
                <a:srgbClr val="FFFFFF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51084" y="582703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Measure Distances</a:t>
            </a:r>
            <a:endParaRPr lang="en-US" sz="2200" b="1" dirty="0">
              <a:solidFill>
                <a:srgbClr val="3C3939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51084" y="6317456"/>
            <a:ext cx="589335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Integrate a tool to calculate and display pixel distances between selected points.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7428548" y="5260062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7428548" y="5229582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</p:spPr>
      </p:sp>
      <p:sp>
        <p:nvSpPr>
          <p:cNvPr id="29" name="Shape 27"/>
          <p:cNvSpPr/>
          <p:nvPr/>
        </p:nvSpPr>
        <p:spPr>
          <a:xfrm>
            <a:off x="10292298" y="491990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</p:spPr>
      </p:sp>
      <p:sp>
        <p:nvSpPr>
          <p:cNvPr id="30" name="Text 28"/>
          <p:cNvSpPr/>
          <p:nvPr/>
        </p:nvSpPr>
        <p:spPr>
          <a:xfrm>
            <a:off x="10534471" y="4990981"/>
            <a:ext cx="272177" cy="3401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5</a:t>
            </a:r>
            <a:endParaRPr lang="en-US" sz="2100" b="1" dirty="0">
              <a:solidFill>
                <a:srgbClr val="FFFFFF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685842" y="582703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Save Results</a:t>
            </a:r>
            <a:endParaRPr lang="en-US" sz="2200" b="1" dirty="0">
              <a:solidFill>
                <a:srgbClr val="3C3939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685842" y="6317456"/>
            <a:ext cx="589335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Allow users to export the annotated image, preserving all modifications.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83606"/>
            <a:ext cx="8896945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B1B27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System Architecture: Desktop-Based GUI</a:t>
            </a:r>
            <a:endParaRPr lang="en-US" sz="3550" b="1" dirty="0">
              <a:solidFill>
                <a:srgbClr val="1B1B27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793790" y="3090743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>
            <p:custDataLst>
              <p:tags r:id="rId2"/>
            </p:custDataLst>
          </p:nvPr>
        </p:nvSpPr>
        <p:spPr>
          <a:xfrm>
            <a:off x="1028224" y="332517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1B27"/>
          </a:solidFill>
        </p:spPr>
      </p:sp>
      <p:pic>
        <p:nvPicPr>
          <p:cNvPr id="5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390" y="3512225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>
            <p:custDataLst>
              <p:tags r:id="rId6"/>
            </p:custDataLst>
          </p:nvPr>
        </p:nvSpPr>
        <p:spPr>
          <a:xfrm>
            <a:off x="1028224" y="423243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Desktop Application</a:t>
            </a:r>
            <a:endParaRPr lang="en-US" sz="2200" b="1" dirty="0">
              <a:solidFill>
                <a:srgbClr val="3C3939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7" name="Text 4"/>
          <p:cNvSpPr/>
          <p:nvPr>
            <p:custDataLst>
              <p:tags r:id="rId7"/>
            </p:custDataLst>
          </p:nvPr>
        </p:nvSpPr>
        <p:spPr>
          <a:xfrm>
            <a:off x="1028224" y="4722852"/>
            <a:ext cx="3727490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 standalone graphical user interface (GUI) application for local execution.</a:t>
            </a:r>
            <a:endParaRPr lang="en-US" sz="1750" dirty="0"/>
          </a:p>
        </p:txBody>
      </p:sp>
      <p:sp>
        <p:nvSpPr>
          <p:cNvPr id="8" name="Shape 5"/>
          <p:cNvSpPr/>
          <p:nvPr>
            <p:custDataLst>
              <p:tags r:id="rId8"/>
            </p:custDataLst>
          </p:nvPr>
        </p:nvSpPr>
        <p:spPr>
          <a:xfrm>
            <a:off x="5166360" y="3090545"/>
            <a:ext cx="4286885" cy="2955290"/>
          </a:xfrm>
          <a:prstGeom prst="roundRect">
            <a:avLst>
              <a:gd name="adj" fmla="val 322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9"/>
            </p:custDataLst>
          </p:nvPr>
        </p:nvSpPr>
        <p:spPr>
          <a:xfrm>
            <a:off x="5390436" y="332517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1B27"/>
          </a:solidFill>
        </p:spPr>
      </p:sp>
      <p:pic>
        <p:nvPicPr>
          <p:cNvPr id="10" name="Image 1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77602" y="3512225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>
            <p:custDataLst>
              <p:tags r:id="rId12"/>
            </p:custDataLst>
          </p:nvPr>
        </p:nvSpPr>
        <p:spPr>
          <a:xfrm>
            <a:off x="5390436" y="4232434"/>
            <a:ext cx="331315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Event-Driven Interaction</a:t>
            </a:r>
            <a:endParaRPr lang="en-US" sz="2200" b="1" dirty="0">
              <a:solidFill>
                <a:srgbClr val="3C3939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12" name="Text 8"/>
          <p:cNvSpPr/>
          <p:nvPr>
            <p:custDataLst>
              <p:tags r:id="rId13"/>
            </p:custDataLst>
          </p:nvPr>
        </p:nvSpPr>
        <p:spPr>
          <a:xfrm>
            <a:off x="5390436" y="4722852"/>
            <a:ext cx="3727490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Responds to user actions like mouse clicks and drags for dynamic annotation.</a:t>
            </a:r>
            <a:endParaRPr lang="en-US" sz="1750" dirty="0"/>
          </a:p>
        </p:txBody>
      </p:sp>
      <p:sp>
        <p:nvSpPr>
          <p:cNvPr id="13" name="Shape 9"/>
          <p:cNvSpPr/>
          <p:nvPr>
            <p:custDataLst>
              <p:tags r:id="rId14"/>
            </p:custDataLst>
          </p:nvPr>
        </p:nvSpPr>
        <p:spPr>
          <a:xfrm>
            <a:off x="9639935" y="3090545"/>
            <a:ext cx="4277360" cy="2955290"/>
          </a:xfrm>
          <a:prstGeom prst="roundRect">
            <a:avLst>
              <a:gd name="adj" fmla="val 322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>
            <p:custDataLst>
              <p:tags r:id="rId15"/>
            </p:custDataLst>
          </p:nvPr>
        </p:nvSpPr>
        <p:spPr>
          <a:xfrm>
            <a:off x="9874568" y="332517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1B27"/>
          </a:solidFill>
        </p:spPr>
      </p:sp>
      <p:pic>
        <p:nvPicPr>
          <p:cNvPr id="15" name="Image 2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061734" y="3512225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>
            <p:custDataLst>
              <p:tags r:id="rId18"/>
            </p:custDataLst>
          </p:nvPr>
        </p:nvSpPr>
        <p:spPr>
          <a:xfrm>
            <a:off x="9874568" y="4232434"/>
            <a:ext cx="342399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Canvas-Based Rendering</a:t>
            </a:r>
            <a:endParaRPr lang="en-US" sz="2200" b="1" dirty="0">
              <a:solidFill>
                <a:srgbClr val="3C3939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17" name="Text 12"/>
          <p:cNvSpPr/>
          <p:nvPr>
            <p:custDataLst>
              <p:tags r:id="rId19"/>
            </p:custDataLst>
          </p:nvPr>
        </p:nvSpPr>
        <p:spPr>
          <a:xfrm>
            <a:off x="9874568" y="4722852"/>
            <a:ext cx="3727490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Utilizes a canvas component for displaying images and drawing annotations.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4065"/>
            <a:ext cx="4960501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B1B27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Intuitive User Interface</a:t>
            </a:r>
            <a:endParaRPr lang="en-US" sz="3550" b="1" dirty="0">
              <a:solidFill>
                <a:srgbClr val="1B1B27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22801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B1B27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Toolbar for Actions</a:t>
            </a:r>
            <a:endParaRPr lang="en-US" sz="2200" b="1" dirty="0">
              <a:solidFill>
                <a:srgbClr val="1B1B27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809161"/>
            <a:ext cx="7604284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 streamlined toolbar provides quick access to all annotation tools: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376136"/>
            <a:ext cx="7604284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Load Image: Imports new images.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818334"/>
            <a:ext cx="7604284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Rectangle, Line, Circle, Text: Tools for specific annotations.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260533"/>
            <a:ext cx="7604284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Measure: Activates the distance calculation tool.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702731"/>
            <a:ext cx="7604284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Save: Exports the final annotated image.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959096" y="222801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B1B27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Interactive Canvas</a:t>
            </a:r>
            <a:endParaRPr lang="en-US" sz="2200" b="1" dirty="0">
              <a:solidFill>
                <a:srgbClr val="1B1B27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959096" y="2809161"/>
            <a:ext cx="48850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The central canvas area allows users to directly interact with the image: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959096" y="3739039"/>
            <a:ext cx="48850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Click and drag to draw shapes.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959096" y="4181237"/>
            <a:ext cx="48850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Click to place text or measurement points.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959096" y="4623435"/>
            <a:ext cx="48850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Provides real-time visual feedback during drawing.</a:t>
            </a:r>
            <a:endParaRPr lang="en-US" sz="1750" dirty="0"/>
          </a:p>
        </p:txBody>
      </p:sp>
      <p:sp>
        <p:nvSpPr>
          <p:cNvPr id="15" name="Text 6"/>
          <p:cNvSpPr/>
          <p:nvPr/>
        </p:nvSpPr>
        <p:spPr>
          <a:xfrm>
            <a:off x="793790" y="5144691"/>
            <a:ext cx="7604284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Undo: removes the most recent annotation</a:t>
            </a:r>
            <a:endParaRPr lang="en-US" sz="1750" dirty="0"/>
          </a:p>
        </p:txBody>
      </p:sp>
      <p:sp>
        <p:nvSpPr>
          <p:cNvPr id="16" name="Text 6"/>
          <p:cNvSpPr/>
          <p:nvPr/>
        </p:nvSpPr>
        <p:spPr>
          <a:xfrm>
            <a:off x="793790" y="5586651"/>
            <a:ext cx="7604284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Redo: returns the most recent deleted annotation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28148"/>
            <a:ext cx="7647623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B1B27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Core Feature: Dynamic Annotations</a:t>
            </a:r>
            <a:endParaRPr lang="en-US" sz="3550" b="1" dirty="0">
              <a:solidFill>
                <a:srgbClr val="1B1B27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793790" y="3235285"/>
            <a:ext cx="13042821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>
            <p:custDataLst>
              <p:tags r:id="rId2"/>
            </p:custDataLst>
          </p:nvPr>
        </p:nvSpPr>
        <p:spPr>
          <a:xfrm>
            <a:off x="801410" y="3242905"/>
            <a:ext cx="4342448" cy="2032754"/>
          </a:xfrm>
          <a:prstGeom prst="roundRect">
            <a:avLst>
              <a:gd name="adj" fmla="val 4687"/>
            </a:avLst>
          </a:prstGeom>
          <a:solidFill>
            <a:srgbClr val="E1E1EA"/>
          </a:solidFill>
        </p:spPr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1028224" y="346971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Shape Tools</a:t>
            </a:r>
            <a:endParaRPr lang="en-US" sz="2200" b="1" dirty="0">
              <a:solidFill>
                <a:srgbClr val="3C3939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1028224" y="3960138"/>
            <a:ext cx="388881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Draw precise rectangles, lines, and circles. Circles are dynamically calculated based on radius.</a:t>
            </a:r>
            <a:endParaRPr lang="en-US" sz="1750" dirty="0"/>
          </a:p>
        </p:txBody>
      </p:sp>
      <p:sp>
        <p:nvSpPr>
          <p:cNvPr id="7" name="Shape 5"/>
          <p:cNvSpPr/>
          <p:nvPr>
            <p:custDataLst>
              <p:tags r:id="rId5"/>
            </p:custDataLst>
          </p:nvPr>
        </p:nvSpPr>
        <p:spPr>
          <a:xfrm>
            <a:off x="5143857" y="3242905"/>
            <a:ext cx="4342567" cy="2032754"/>
          </a:xfrm>
          <a:prstGeom prst="rect">
            <a:avLst/>
          </a:prstGeom>
          <a:solidFill>
            <a:srgbClr val="E1E1EA"/>
          </a:solidFill>
        </p:spPr>
      </p:sp>
      <p:sp>
        <p:nvSpPr>
          <p:cNvPr id="8" name="Shape 6"/>
          <p:cNvSpPr/>
          <p:nvPr>
            <p:custDataLst>
              <p:tags r:id="rId6"/>
            </p:custDataLst>
          </p:nvPr>
        </p:nvSpPr>
        <p:spPr>
          <a:xfrm>
            <a:off x="5143857" y="3242905"/>
            <a:ext cx="30480" cy="2032754"/>
          </a:xfrm>
          <a:prstGeom prst="roundRect">
            <a:avLst>
              <a:gd name="adj" fmla="val 312558"/>
            </a:avLst>
          </a:prstGeom>
          <a:solidFill>
            <a:srgbClr val="C7C7D0"/>
          </a:solidFill>
        </p:spPr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5370671" y="346971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Text Labels</a:t>
            </a:r>
            <a:endParaRPr lang="en-US" sz="2200" b="1" dirty="0">
              <a:solidFill>
                <a:srgbClr val="3C3939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5370671" y="3960138"/>
            <a:ext cx="3888938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Add custom text at any point, providing descriptive notes or labels.</a:t>
            </a:r>
            <a:endParaRPr lang="en-US" sz="1750" dirty="0"/>
          </a:p>
        </p:txBody>
      </p:sp>
      <p:sp>
        <p:nvSpPr>
          <p:cNvPr id="11" name="Shape 9"/>
          <p:cNvSpPr/>
          <p:nvPr>
            <p:custDataLst>
              <p:tags r:id="rId9"/>
            </p:custDataLst>
          </p:nvPr>
        </p:nvSpPr>
        <p:spPr>
          <a:xfrm>
            <a:off x="9486424" y="3242905"/>
            <a:ext cx="4342567" cy="2032754"/>
          </a:xfrm>
          <a:prstGeom prst="rect">
            <a:avLst/>
          </a:prstGeom>
          <a:solidFill>
            <a:srgbClr val="E1E1EA"/>
          </a:solidFill>
        </p:spPr>
      </p:sp>
      <p:sp>
        <p:nvSpPr>
          <p:cNvPr id="12" name="Shape 10"/>
          <p:cNvSpPr/>
          <p:nvPr>
            <p:custDataLst>
              <p:tags r:id="rId10"/>
            </p:custDataLst>
          </p:nvPr>
        </p:nvSpPr>
        <p:spPr>
          <a:xfrm>
            <a:off x="9486424" y="3242905"/>
            <a:ext cx="30480" cy="2032754"/>
          </a:xfrm>
          <a:prstGeom prst="roundRect">
            <a:avLst>
              <a:gd name="adj" fmla="val 312558"/>
            </a:avLst>
          </a:prstGeom>
          <a:solidFill>
            <a:srgbClr val="C7C7D0"/>
          </a:solidFill>
        </p:spPr>
      </p:sp>
      <p:sp>
        <p:nvSpPr>
          <p:cNvPr id="13" name="Text 11"/>
          <p:cNvSpPr/>
          <p:nvPr>
            <p:custDataLst>
              <p:tags r:id="rId11"/>
            </p:custDataLst>
          </p:nvPr>
        </p:nvSpPr>
        <p:spPr>
          <a:xfrm>
            <a:off x="9713238" y="346971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Measurement Tool</a:t>
            </a:r>
            <a:endParaRPr lang="en-US" sz="2200" b="1" dirty="0">
              <a:solidFill>
                <a:srgbClr val="3C3939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9713238" y="3960138"/>
            <a:ext cx="3888938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Select two points to instantly display the pixel distance, aiding in basic analysis.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538430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Real-time drawing previews ensure accuracy and user satisfaction.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14374"/>
            <a:ext cx="9363194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B1B27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Core Feature: Image Management &amp; Export</a:t>
            </a:r>
            <a:endParaRPr lang="en-US" sz="3550" b="1" dirty="0">
              <a:solidFill>
                <a:srgbClr val="1B1B27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521512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521512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1B1B27"/>
          </a:solidFill>
        </p:spPr>
      </p:sp>
      <p:sp>
        <p:nvSpPr>
          <p:cNvPr id="5" name="Text 3"/>
          <p:cNvSpPr/>
          <p:nvPr/>
        </p:nvSpPr>
        <p:spPr>
          <a:xfrm>
            <a:off x="1142524" y="3778806"/>
            <a:ext cx="3176111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Flexible Image Loading</a:t>
            </a:r>
            <a:endParaRPr lang="en-US" sz="2200" b="1" dirty="0">
              <a:solidFill>
                <a:srgbClr val="3C3939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2524" y="4269224"/>
            <a:ext cx="5801916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Supports common formats like PNG and JPEG. The canvas intelligently adjusts to image dimensions upon loading.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521512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3521512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1B1B27"/>
          </a:solidFill>
        </p:spPr>
      </p:sp>
      <p:sp>
        <p:nvSpPr>
          <p:cNvPr id="9" name="Text 7"/>
          <p:cNvSpPr/>
          <p:nvPr/>
        </p:nvSpPr>
        <p:spPr>
          <a:xfrm>
            <a:off x="7777282" y="377880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Seamless Saving</a:t>
            </a:r>
            <a:endParaRPr lang="en-US" sz="2200" b="1" dirty="0">
              <a:solidFill>
                <a:srgbClr val="3C3939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7282" y="4269224"/>
            <a:ext cx="580203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Annotated images can be exported as PNG or JPEG. All annotations are permanently embedded into the image.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7472"/>
            <a:ext cx="9336048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B1B27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Under the Hood: Technical Implementation</a:t>
            </a:r>
            <a:endParaRPr lang="en-US" sz="3550" b="1" dirty="0">
              <a:solidFill>
                <a:srgbClr val="1B1B27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584609"/>
            <a:ext cx="4196358" cy="2418517"/>
          </a:xfrm>
          <a:prstGeom prst="roundRect">
            <a:avLst>
              <a:gd name="adj" fmla="val 393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74351" y="281904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Python</a:t>
            </a:r>
            <a:endParaRPr lang="en-US" sz="2200" b="1" dirty="0">
              <a:solidFill>
                <a:srgbClr val="3C3939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28224" y="3309461"/>
            <a:ext cx="372749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Primary language for application logic and overall structure.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584609"/>
            <a:ext cx="4196358" cy="2418517"/>
          </a:xfrm>
          <a:prstGeom prst="roundRect">
            <a:avLst>
              <a:gd name="adj" fmla="val 393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523" y="281904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Tkinter</a:t>
            </a:r>
            <a:endParaRPr lang="en-US" sz="2200" b="1" dirty="0">
              <a:solidFill>
                <a:srgbClr val="3C3939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51396" y="3309461"/>
            <a:ext cx="372749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Handles GUI components, window management, and event handling.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584609"/>
            <a:ext cx="4196358" cy="2418517"/>
          </a:xfrm>
          <a:prstGeom prst="roundRect">
            <a:avLst>
              <a:gd name="adj" fmla="val 393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20695" y="281904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PIL (Pillow)</a:t>
            </a:r>
            <a:endParaRPr lang="en-US" sz="2200" b="1" dirty="0">
              <a:solidFill>
                <a:srgbClr val="3C3939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4568" y="3309461"/>
            <a:ext cx="3727490" cy="14592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Used for image manipulation, loading, saving, and rendering permanent annotations via </a:t>
            </a: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ImageDraw</a:t>
            </a: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229939"/>
            <a:ext cx="13042702" cy="1322189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523" y="546437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Euclidean Distance</a:t>
            </a:r>
            <a:endParaRPr lang="en-US" sz="2200" dirty="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8224" y="5954792"/>
            <a:ext cx="1257383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Mathematical calculation for precise pixel distance measurement.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56071"/>
            <a:ext cx="4536519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B1B27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Current Limitations</a:t>
            </a:r>
            <a:endParaRPr lang="en-US" sz="3550" b="1" dirty="0">
              <a:solidFill>
                <a:srgbClr val="1B1B27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763208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sz="1750" b="1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Pixel-Based Measurement Only:</a:t>
            </a: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Measurements are currently in pixels; no real-world unit calibration is available.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65652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SzPct val="100000"/>
              <a:buNone/>
            </a:pPr>
            <a:r>
              <a:rPr lang="en-US" sz="1750" b="1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Single Image Session:</a:t>
            </a: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The tool supports editing one image at a time, requiring a reload for new files.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5435"/>
            <a:ext cx="4780478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B1B27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Future Enhancements</a:t>
            </a:r>
            <a:endParaRPr lang="en-US" sz="3550" b="1" dirty="0">
              <a:solidFill>
                <a:srgbClr val="1B1B27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793790" y="2596039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Verdana" panose="020B0604030504040204" charset="0"/>
                <a:ea typeface="Raleway Light" pitchFamily="34" charset="-122"/>
                <a:cs typeface="Verdana" panose="020B0604030504040204" charset="0"/>
              </a:rPr>
              <a:t>01</a:t>
            </a:r>
            <a:endParaRPr lang="en-US" sz="1750" dirty="0">
              <a:solidFill>
                <a:srgbClr val="3C3939"/>
              </a:solidFill>
              <a:latin typeface="Verdana" panose="020B0604030504040204" charset="0"/>
              <a:ea typeface="Raleway Light" pitchFamily="34" charset="-122"/>
              <a:cs typeface="Verdana" panose="020B0604030504040204" charset="0"/>
            </a:endParaRPr>
          </a:p>
        </p:txBody>
      </p:sp>
      <p:sp>
        <p:nvSpPr>
          <p:cNvPr id="4" name="Shape 2"/>
          <p:cNvSpPr/>
          <p:nvPr>
            <p:custDataLst>
              <p:tags r:id="rId2"/>
            </p:custDataLst>
          </p:nvPr>
        </p:nvSpPr>
        <p:spPr>
          <a:xfrm>
            <a:off x="793750" y="2952750"/>
            <a:ext cx="6300470" cy="28800"/>
          </a:xfrm>
          <a:prstGeom prst="rect">
            <a:avLst/>
          </a:prstGeom>
          <a:solidFill>
            <a:srgbClr val="1B1B27"/>
          </a:solidFill>
        </p:spPr>
        <p:txBody>
          <a:bodyPr/>
          <a:p>
            <a:endParaRPr lang="en-US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793790" y="312539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  <a:sym typeface="+mn-ea"/>
              </a:rPr>
              <a:t>Layer Management</a:t>
            </a:r>
            <a:endParaRPr lang="en-US" sz="2200" b="1" dirty="0">
              <a:solidFill>
                <a:srgbClr val="3C3939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793750" y="3615690"/>
            <a:ext cx="628332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Introduce annotation layers for better organization and selective visibility.</a:t>
            </a:r>
            <a:endParaRPr lang="en-US" sz="175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7428865" y="2595880"/>
            <a:ext cx="347980" cy="2832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Verdana" panose="020B0604030504040204" charset="0"/>
                <a:ea typeface="Raleway Light" pitchFamily="34" charset="-122"/>
                <a:cs typeface="Verdana" panose="020B0604030504040204" charset="0"/>
              </a:rPr>
              <a:t>02</a:t>
            </a:r>
            <a:endParaRPr lang="en-US" sz="1750" dirty="0">
              <a:solidFill>
                <a:srgbClr val="3C3939"/>
              </a:solidFill>
              <a:latin typeface="Verdana" panose="020B0604030504040204" charset="0"/>
              <a:ea typeface="Raleway Light" pitchFamily="34" charset="-122"/>
              <a:cs typeface="Verdana" panose="020B0604030504040204" charset="0"/>
            </a:endParaRPr>
          </a:p>
        </p:txBody>
      </p:sp>
      <p:sp>
        <p:nvSpPr>
          <p:cNvPr id="8" name="Shape 6"/>
          <p:cNvSpPr/>
          <p:nvPr>
            <p:custDataLst>
              <p:tags r:id="rId6"/>
            </p:custDataLst>
          </p:nvPr>
        </p:nvSpPr>
        <p:spPr>
          <a:xfrm>
            <a:off x="7388860" y="2950845"/>
            <a:ext cx="6447155" cy="28800"/>
          </a:xfrm>
          <a:prstGeom prst="rect">
            <a:avLst/>
          </a:prstGeom>
          <a:solidFill>
            <a:srgbClr val="1B1B27"/>
          </a:solidFill>
        </p:spPr>
        <p:txBody>
          <a:bodyPr/>
          <a:p>
            <a:endParaRPr lang="en-US"/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7428865" y="3125470"/>
            <a:ext cx="5281930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Customization Options</a:t>
            </a:r>
            <a:endParaRPr lang="en-US" sz="2200" b="1" dirty="0">
              <a:solidFill>
                <a:srgbClr val="3C3939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7388860" y="3615690"/>
            <a:ext cx="644715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Allow users to choose annotation colors, line strokes, and font styles.</a:t>
            </a:r>
            <a:endParaRPr lang="en-US" sz="175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794583" y="4758214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Verdana" panose="020B0604030504040204" charset="0"/>
                <a:ea typeface="Raleway Light" pitchFamily="34" charset="-122"/>
                <a:cs typeface="Verdana" panose="020B0604030504040204" charset="0"/>
              </a:rPr>
              <a:t>03</a:t>
            </a:r>
            <a:endParaRPr lang="en-US" sz="1750" dirty="0">
              <a:solidFill>
                <a:srgbClr val="3C3939"/>
              </a:solidFill>
              <a:latin typeface="Verdana" panose="020B0604030504040204" charset="0"/>
              <a:ea typeface="Raleway Light" pitchFamily="34" charset="-122"/>
              <a:cs typeface="Verdana" panose="020B0604030504040204" charset="0"/>
            </a:endParaRPr>
          </a:p>
        </p:txBody>
      </p:sp>
      <p:sp>
        <p:nvSpPr>
          <p:cNvPr id="12" name="Shape 10"/>
          <p:cNvSpPr/>
          <p:nvPr>
            <p:custDataLst>
              <p:tags r:id="rId10"/>
            </p:custDataLst>
          </p:nvPr>
        </p:nvSpPr>
        <p:spPr>
          <a:xfrm>
            <a:off x="794385" y="5103495"/>
            <a:ext cx="6299200" cy="28800"/>
          </a:xfrm>
          <a:prstGeom prst="rect">
            <a:avLst/>
          </a:prstGeom>
          <a:solidFill>
            <a:srgbClr val="1B1B27"/>
          </a:solidFill>
        </p:spPr>
      </p:sp>
      <p:sp>
        <p:nvSpPr>
          <p:cNvPr id="13" name="Text 11"/>
          <p:cNvSpPr/>
          <p:nvPr>
            <p:custDataLst>
              <p:tags r:id="rId11"/>
            </p:custDataLst>
          </p:nvPr>
        </p:nvSpPr>
        <p:spPr>
          <a:xfrm>
            <a:off x="794583" y="5267881"/>
            <a:ext cx="344102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Measurement Calibration</a:t>
            </a:r>
            <a:endParaRPr lang="en-US" sz="2200" b="1" dirty="0">
              <a:solidFill>
                <a:srgbClr val="3C3939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794583" y="5663684"/>
            <a:ext cx="4196358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Add features for converting pixel distances to real-world units.</a:t>
            </a:r>
            <a:endParaRPr lang="en-US" sz="1750" dirty="0"/>
          </a:p>
        </p:txBody>
      </p:sp>
      <p:sp>
        <p:nvSpPr>
          <p:cNvPr id="15" name="Text 13"/>
          <p:cNvSpPr/>
          <p:nvPr>
            <p:custDataLst>
              <p:tags r:id="rId13"/>
            </p:custDataLst>
          </p:nvPr>
        </p:nvSpPr>
        <p:spPr>
          <a:xfrm>
            <a:off x="7428905" y="4738449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Verdana" panose="020B0604030504040204" charset="0"/>
                <a:ea typeface="Raleway Light" pitchFamily="34" charset="-122"/>
                <a:cs typeface="Verdana" panose="020B0604030504040204" charset="0"/>
              </a:rPr>
              <a:t>04</a:t>
            </a:r>
            <a:endParaRPr lang="en-US" sz="1750" dirty="0">
              <a:solidFill>
                <a:srgbClr val="3C3939"/>
              </a:solidFill>
              <a:latin typeface="Verdana" panose="020B0604030504040204" charset="0"/>
              <a:ea typeface="Raleway Light" pitchFamily="34" charset="-122"/>
              <a:cs typeface="Verdana" panose="020B0604030504040204" charset="0"/>
            </a:endParaRPr>
          </a:p>
        </p:txBody>
      </p:sp>
      <p:sp>
        <p:nvSpPr>
          <p:cNvPr id="16" name="Shape 14"/>
          <p:cNvSpPr/>
          <p:nvPr>
            <p:custDataLst>
              <p:tags r:id="rId14"/>
            </p:custDataLst>
          </p:nvPr>
        </p:nvSpPr>
        <p:spPr>
          <a:xfrm>
            <a:off x="7428905" y="5093494"/>
            <a:ext cx="6407944" cy="30480"/>
          </a:xfrm>
          <a:prstGeom prst="rect">
            <a:avLst/>
          </a:prstGeom>
          <a:solidFill>
            <a:srgbClr val="1B1B27"/>
          </a:solidFill>
        </p:spPr>
      </p:sp>
      <p:sp>
        <p:nvSpPr>
          <p:cNvPr id="17" name="Text 15"/>
          <p:cNvSpPr/>
          <p:nvPr>
            <p:custDataLst>
              <p:tags r:id="rId15"/>
            </p:custDataLst>
          </p:nvPr>
        </p:nvSpPr>
        <p:spPr>
          <a:xfrm>
            <a:off x="7428905" y="526780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Verdana" panose="020B0604030504040204" charset="0"/>
                <a:ea typeface="Raleway Bold" pitchFamily="34" charset="-122"/>
                <a:cs typeface="Verdana" panose="020B0604030504040204" charset="0"/>
              </a:rPr>
              <a:t>Multiple Image Tabs</a:t>
            </a:r>
            <a:endParaRPr lang="en-US" sz="2200" b="1" dirty="0">
              <a:solidFill>
                <a:srgbClr val="3C3939"/>
              </a:solidFill>
              <a:latin typeface="Verdana" panose="020B0604030504040204" charset="0"/>
              <a:ea typeface="Raleway Bold" pitchFamily="34" charset="-122"/>
              <a:cs typeface="Verdana" panose="020B0604030504040204" charset="0"/>
            </a:endParaRPr>
          </a:p>
        </p:txBody>
      </p:sp>
      <p:sp>
        <p:nvSpPr>
          <p:cNvPr id="18" name="Text 16"/>
          <p:cNvSpPr/>
          <p:nvPr>
            <p:custDataLst>
              <p:tags r:id="rId16"/>
            </p:custDataLst>
          </p:nvPr>
        </p:nvSpPr>
        <p:spPr>
          <a:xfrm>
            <a:off x="7428905" y="5766475"/>
            <a:ext cx="6407944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Enable concurrent editing of several images within the same session.</a:t>
            </a:r>
            <a:endParaRPr lang="en-US" sz="17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4.85937007874014,&quot;left&quot;:62.50314960629921,&quot;top&quot;:277.2844094488189,&quot;width&quot;:1026.9843307086612}"/>
</p:tagLst>
</file>

<file path=ppt/tags/tag2.xml><?xml version="1.0" encoding="utf-8"?>
<p:tagLst xmlns:p="http://schemas.openxmlformats.org/presentationml/2006/main">
  <p:tag name="KSO_WM_DIAGRAM_VIRTUALLY_FRAME" val="{&quot;height&quot;:164.85937007874014,&quot;left&quot;:62.50314960629921,&quot;top&quot;:277.2844094488189,&quot;width&quot;:1026.9843307086612}"/>
</p:tagLst>
</file>

<file path=ppt/tags/tag3.xml><?xml version="1.0" encoding="utf-8"?>
<p:tagLst xmlns:p="http://schemas.openxmlformats.org/presentationml/2006/main">
  <p:tag name="KSO_WM_DIAGRAM_VIRTUALLY_FRAME" val="{&quot;height&quot;:164.85937007874014,&quot;left&quot;:62.50314960629921,&quot;top&quot;:277.2844094488189,&quot;width&quot;:1026.9843307086612}"/>
</p:tagLst>
</file>

<file path=ppt/tags/tag4.xml><?xml version="1.0" encoding="utf-8"?>
<p:tagLst xmlns:p="http://schemas.openxmlformats.org/presentationml/2006/main">
  <p:tag name="KSO_WM_DIAGRAM_VIRTUALLY_FRAME" val="{&quot;height&quot;:164.85937007874014,&quot;left&quot;:62.50314960629921,&quot;top&quot;:277.2844094488189,&quot;width&quot;:1026.9843307086612}"/>
</p:tagLst>
</file>

<file path=ppt/tags/tag5.xml><?xml version="1.0" encoding="utf-8"?>
<p:tagLst xmlns:p="http://schemas.openxmlformats.org/presentationml/2006/main">
  <p:tag name="KSO_WM_DIAGRAM_VIRTUALLY_FRAME" val="{&quot;height&quot;:164.85937007874014,&quot;left&quot;:62.50314960629921,&quot;top&quot;:277.2844094488189,&quot;width&quot;:1026.9843307086612}"/>
</p:tagLst>
</file>

<file path=ppt/tags/tag6.xml><?xml version="1.0" encoding="utf-8"?>
<p:tagLst xmlns:p="http://schemas.openxmlformats.org/presentationml/2006/main">
  <p:tag name="KSO_WM_DIAGRAM_VIRTUALLY_FRAME" val="{&quot;height&quot;:164.85937007874014,&quot;left&quot;:62.50314960629921,&quot;top&quot;:277.2844094488189,&quot;width&quot;:1026.9843307086612}"/>
</p:tagLst>
</file>

<file path=ppt/tags/tag7.xml><?xml version="1.0" encoding="utf-8"?>
<p:tagLst xmlns:p="http://schemas.openxmlformats.org/presentationml/2006/main">
  <p:tag name="KSO_WM_DIAGRAM_VIRTUALLY_FRAME" val="{&quot;height&quot;:164.85937007874014,&quot;left&quot;:62.50314960629921,&quot;top&quot;:277.2844094488189,&quot;width&quot;:1026.9843307086612}"/>
</p:tagLst>
</file>

<file path=ppt/tags/tag8.xml><?xml version="1.0" encoding="utf-8"?>
<p:tagLst xmlns:p="http://schemas.openxmlformats.org/presentationml/2006/main">
  <p:tag name="KSO_WM_DIAGRAM_VIRTUALLY_FRAME" val="{&quot;height&quot;:164.85937007874014,&quot;left&quot;:62.50314960629921,&quot;top&quot;:277.2844094488189,&quot;width&quot;:1026.9843307086612}"/>
</p:tagLst>
</file>

<file path=ppt/tags/tag9.xml><?xml version="1.0" encoding="utf-8"?>
<p:tagLst xmlns:p="http://schemas.openxmlformats.org/presentationml/2006/main">
  <p:tag name="KSO_WM_DIAGRAM_VIRTUALLY_FRAME" val="{&quot;height&quot;:164.85937007874014,&quot;left&quot;:62.50314960629921,&quot;top&quot;:277.2844094488189,&quot;width&quot;:1026.9843307086612}"/>
</p:tagLst>
</file>

<file path=ppt/tags/tag10.xml><?xml version="1.0" encoding="utf-8"?>
<p:tagLst xmlns:p="http://schemas.openxmlformats.org/presentationml/2006/main">
  <p:tag name="KSO_WM_DIAGRAM_VIRTUALLY_FRAME" val="{&quot;height&quot;:232.71244094488193,&quot;left&quot;:62.50314960629921,&quot;top&quot;:243.35,&quot;width&quot;:1033.3468503937008}"/>
</p:tagLst>
</file>

<file path=ppt/tags/tag11.xml><?xml version="1.0" encoding="utf-8"?>
<p:tagLst xmlns:p="http://schemas.openxmlformats.org/presentationml/2006/main">
  <p:tag name="KSO_WM_DIAGRAM_VIRTUALLY_FRAME" val="{&quot;height&quot;:232.71244094488193,&quot;left&quot;:62.50314960629921,&quot;top&quot;:243.35,&quot;width&quot;:1033.3468503937008}"/>
</p:tagLst>
</file>

<file path=ppt/tags/tag12.xml><?xml version="1.0" encoding="utf-8"?>
<p:tagLst xmlns:p="http://schemas.openxmlformats.org/presentationml/2006/main">
  <p:tag name="KSO_WM_DIAGRAM_VIRTUALLY_FRAME" val="{&quot;height&quot;:232.71244094488193,&quot;left&quot;:62.50314960629921,&quot;top&quot;:243.35,&quot;width&quot;:1033.3468503937008}"/>
</p:tagLst>
</file>

<file path=ppt/tags/tag13.xml><?xml version="1.0" encoding="utf-8"?>
<p:tagLst xmlns:p="http://schemas.openxmlformats.org/presentationml/2006/main">
  <p:tag name="KSO_WM_DIAGRAM_VIRTUALLY_FRAME" val="{&quot;height&quot;:232.71244094488193,&quot;left&quot;:62.50314960629921,&quot;top&quot;:243.35,&quot;width&quot;:1033.3468503937008}"/>
</p:tagLst>
</file>

<file path=ppt/tags/tag14.xml><?xml version="1.0" encoding="utf-8"?>
<p:tagLst xmlns:p="http://schemas.openxmlformats.org/presentationml/2006/main">
  <p:tag name="KSO_WM_DIAGRAM_VIRTUALLY_FRAME" val="{&quot;height&quot;:232.71244094488193,&quot;left&quot;:62.50314960629921,&quot;top&quot;:243.35,&quot;width&quot;:1033.3468503937008}"/>
</p:tagLst>
</file>

<file path=ppt/tags/tag15.xml><?xml version="1.0" encoding="utf-8"?>
<p:tagLst xmlns:p="http://schemas.openxmlformats.org/presentationml/2006/main">
  <p:tag name="KSO_WM_DIAGRAM_VIRTUALLY_FRAME" val="{&quot;height&quot;:232.71244094488193,&quot;left&quot;:62.50314960629921,&quot;top&quot;:243.35,&quot;width&quot;:1033.3468503937008}"/>
</p:tagLst>
</file>

<file path=ppt/tags/tag16.xml><?xml version="1.0" encoding="utf-8"?>
<p:tagLst xmlns:p="http://schemas.openxmlformats.org/presentationml/2006/main">
  <p:tag name="KSO_WM_DIAGRAM_VIRTUALLY_FRAME" val="{&quot;height&quot;:232.71244094488193,&quot;left&quot;:62.50314960629921,&quot;top&quot;:243.35,&quot;width&quot;:1033.3468503937008}"/>
</p:tagLst>
</file>

<file path=ppt/tags/tag17.xml><?xml version="1.0" encoding="utf-8"?>
<p:tagLst xmlns:p="http://schemas.openxmlformats.org/presentationml/2006/main">
  <p:tag name="KSO_WM_DIAGRAM_VIRTUALLY_FRAME" val="{&quot;height&quot;:232.71244094488193,&quot;left&quot;:62.50314960629921,&quot;top&quot;:243.35,&quot;width&quot;:1033.3468503937008}"/>
</p:tagLst>
</file>

<file path=ppt/tags/tag18.xml><?xml version="1.0" encoding="utf-8"?>
<p:tagLst xmlns:p="http://schemas.openxmlformats.org/presentationml/2006/main">
  <p:tag name="KSO_WM_DIAGRAM_VIRTUALLY_FRAME" val="{&quot;height&quot;:232.71244094488193,&quot;left&quot;:62.50314960629921,&quot;top&quot;:243.35,&quot;width&quot;:1033.3468503937008}"/>
</p:tagLst>
</file>

<file path=ppt/tags/tag19.xml><?xml version="1.0" encoding="utf-8"?>
<p:tagLst xmlns:p="http://schemas.openxmlformats.org/presentationml/2006/main">
  <p:tag name="KSO_WM_DIAGRAM_VIRTUALLY_FRAME" val="{&quot;height&quot;:232.71244094488193,&quot;left&quot;:62.50314960629921,&quot;top&quot;:243.35,&quot;width&quot;:1033.3468503937008}"/>
</p:tagLst>
</file>

<file path=ppt/tags/tag20.xml><?xml version="1.0" encoding="utf-8"?>
<p:tagLst xmlns:p="http://schemas.openxmlformats.org/presentationml/2006/main">
  <p:tag name="KSO_WM_DIAGRAM_VIRTUALLY_FRAME" val="{&quot;height&quot;:232.71244094488193,&quot;left&quot;:62.50314960629921,&quot;top&quot;:243.35,&quot;width&quot;:1033.3468503937008}"/>
</p:tagLst>
</file>

<file path=ppt/tags/tag21.xml><?xml version="1.0" encoding="utf-8"?>
<p:tagLst xmlns:p="http://schemas.openxmlformats.org/presentationml/2006/main">
  <p:tag name="KSO_WM_DIAGRAM_VIRTUALLY_FRAME" val="{&quot;height&quot;:232.71244094488193,&quot;left&quot;:62.50314960629921,&quot;top&quot;:243.35,&quot;width&quot;:1033.3468503937008}"/>
</p:tagLst>
</file>

<file path=ppt/tags/tag22.xml><?xml version="1.0" encoding="utf-8"?>
<p:tagLst xmlns:p="http://schemas.openxmlformats.org/presentationml/2006/main">
  <p:tag name="KSO_WM_DIAGRAM_VIRTUALLY_FRAME" val="{&quot;height&quot;:232.71244094488193,&quot;left&quot;:62.50314960629921,&quot;top&quot;:243.35,&quot;width&quot;:1033.3468503937008}"/>
</p:tagLst>
</file>

<file path=ppt/tags/tag23.xml><?xml version="1.0" encoding="utf-8"?>
<p:tagLst xmlns:p="http://schemas.openxmlformats.org/presentationml/2006/main">
  <p:tag name="KSO_WM_DIAGRAM_VIRTUALLY_FRAME" val="{&quot;height&quot;:232.71244094488193,&quot;left&quot;:62.50314960629921,&quot;top&quot;:243.35,&quot;width&quot;:1033.3468503937008}"/>
</p:tagLst>
</file>

<file path=ppt/tags/tag24.xml><?xml version="1.0" encoding="utf-8"?>
<p:tagLst xmlns:p="http://schemas.openxmlformats.org/presentationml/2006/main">
  <p:tag name="KSO_WM_DIAGRAM_VIRTUALLY_FRAME" val="{&quot;height&quot;:232.71244094488193,&quot;left&quot;:62.50314960629921,&quot;top&quot;:243.35,&quot;width&quot;:1033.3468503937008}"/>
</p:tagLst>
</file>

<file path=ppt/tags/tag25.xml><?xml version="1.0" encoding="utf-8"?>
<p:tagLst xmlns:p="http://schemas.openxmlformats.org/presentationml/2006/main">
  <p:tag name="KSO_WM_DIAGRAM_VIRTUALLY_FRAME" val="{&quot;height&quot;:161.25937007874018,&quot;left&quot;:62.50314960629921,&quot;top&quot;:254.74685039370078,&quot;width&quot;:1026.9937795275594}"/>
</p:tagLst>
</file>

<file path=ppt/tags/tag26.xml><?xml version="1.0" encoding="utf-8"?>
<p:tagLst xmlns:p="http://schemas.openxmlformats.org/presentationml/2006/main">
  <p:tag name="KSO_WM_DIAGRAM_VIRTUALLY_FRAME" val="{&quot;height&quot;:161.25937007874018,&quot;left&quot;:62.50314960629921,&quot;top&quot;:254.74685039370078,&quot;width&quot;:1026.9937795275594}"/>
</p:tagLst>
</file>

<file path=ppt/tags/tag27.xml><?xml version="1.0" encoding="utf-8"?>
<p:tagLst xmlns:p="http://schemas.openxmlformats.org/presentationml/2006/main">
  <p:tag name="KSO_WM_DIAGRAM_VIRTUALLY_FRAME" val="{&quot;height&quot;:161.25937007874018,&quot;left&quot;:62.50314960629921,&quot;top&quot;:254.74685039370078,&quot;width&quot;:1026.9937795275594}"/>
</p:tagLst>
</file>

<file path=ppt/tags/tag28.xml><?xml version="1.0" encoding="utf-8"?>
<p:tagLst xmlns:p="http://schemas.openxmlformats.org/presentationml/2006/main">
  <p:tag name="KSO_WM_DIAGRAM_VIRTUALLY_FRAME" val="{&quot;height&quot;:161.25937007874018,&quot;left&quot;:62.50314960629921,&quot;top&quot;:254.74685039370078,&quot;width&quot;:1026.9937795275594}"/>
</p:tagLst>
</file>

<file path=ppt/tags/tag29.xml><?xml version="1.0" encoding="utf-8"?>
<p:tagLst xmlns:p="http://schemas.openxmlformats.org/presentationml/2006/main">
  <p:tag name="KSO_WM_DIAGRAM_VIRTUALLY_FRAME" val="{&quot;height&quot;:161.25937007874018,&quot;left&quot;:62.50314960629921,&quot;top&quot;:254.74685039370078,&quot;width&quot;:1026.9937795275594}"/>
</p:tagLst>
</file>

<file path=ppt/tags/tag30.xml><?xml version="1.0" encoding="utf-8"?>
<p:tagLst xmlns:p="http://schemas.openxmlformats.org/presentationml/2006/main">
  <p:tag name="KSO_WM_DIAGRAM_VIRTUALLY_FRAME" val="{&quot;height&quot;:161.25937007874018,&quot;left&quot;:62.50314960629921,&quot;top&quot;:254.74685039370078,&quot;width&quot;:1026.9937795275594}"/>
</p:tagLst>
</file>

<file path=ppt/tags/tag31.xml><?xml version="1.0" encoding="utf-8"?>
<p:tagLst xmlns:p="http://schemas.openxmlformats.org/presentationml/2006/main">
  <p:tag name="KSO_WM_DIAGRAM_VIRTUALLY_FRAME" val="{&quot;height&quot;:161.25937007874018,&quot;left&quot;:62.50314960629921,&quot;top&quot;:254.74685039370078,&quot;width&quot;:1026.9937795275594}"/>
</p:tagLst>
</file>

<file path=ppt/tags/tag32.xml><?xml version="1.0" encoding="utf-8"?>
<p:tagLst xmlns:p="http://schemas.openxmlformats.org/presentationml/2006/main">
  <p:tag name="KSO_WM_DIAGRAM_VIRTUALLY_FRAME" val="{&quot;height&quot;:161.25937007874018,&quot;left&quot;:62.50314960629921,&quot;top&quot;:254.74685039370078,&quot;width&quot;:1026.9937795275594}"/>
</p:tagLst>
</file>

<file path=ppt/tags/tag33.xml><?xml version="1.0" encoding="utf-8"?>
<p:tagLst xmlns:p="http://schemas.openxmlformats.org/presentationml/2006/main">
  <p:tag name="KSO_WM_DIAGRAM_VIRTUALLY_FRAME" val="{&quot;height&quot;:161.25937007874018,&quot;left&quot;:62.50314960629921,&quot;top&quot;:254.74685039370078,&quot;width&quot;:1026.9937795275594}"/>
</p:tagLst>
</file>

<file path=ppt/tags/tag34.xml><?xml version="1.0" encoding="utf-8"?>
<p:tagLst xmlns:p="http://schemas.openxmlformats.org/presentationml/2006/main">
  <p:tag name="KSO_WM_DIAGRAM_VIRTUALLY_FRAME" val="{&quot;height&quot;:161.25937007874018,&quot;left&quot;:62.50314960629921,&quot;top&quot;:254.74685039370078,&quot;width&quot;:1026.9937795275594}"/>
</p:tagLst>
</file>

<file path=ppt/tags/tag35.xml><?xml version="1.0" encoding="utf-8"?>
<p:tagLst xmlns:p="http://schemas.openxmlformats.org/presentationml/2006/main">
  <p:tag name="KSO_WM_DIAGRAM_VIRTUALLY_FRAME" val="{&quot;height&quot;:161.25937007874018,&quot;left&quot;:62.50314960629921,&quot;top&quot;:254.74685039370078,&quot;width&quot;:1026.9937795275594}"/>
</p:tagLst>
</file>

<file path=ppt/tags/tag36.xml><?xml version="1.0" encoding="utf-8"?>
<p:tagLst xmlns:p="http://schemas.openxmlformats.org/presentationml/2006/main">
  <p:tag name="KSO_WM_DIAGRAM_VIRTUALLY_FRAME" val="{&quot;height&quot;:161.25937007874018,&quot;left&quot;:62.50314960629921,&quot;top&quot;:254.74685039370078,&quot;width&quot;:1026.9937795275594}"/>
</p:tagLst>
</file>

<file path=ppt/tags/tag37.xml><?xml version="1.0" encoding="utf-8"?>
<p:tagLst xmlns:p="http://schemas.openxmlformats.org/presentationml/2006/main">
  <p:tag name="KSO_WM_DIAGRAM_VIRTUALLY_FRAME" val="{&quot;height&quot;:306.8031496062992,&quot;left&quot;:62.5,&quot;top&quot;:204.4,&quot;width&quot;:1027.0156692913388}"/>
</p:tagLst>
</file>

<file path=ppt/tags/tag38.xml><?xml version="1.0" encoding="utf-8"?>
<p:tagLst xmlns:p="http://schemas.openxmlformats.org/presentationml/2006/main">
  <p:tag name="KSO_WM_DIAGRAM_VIRTUALLY_FRAME" val="{&quot;height&quot;:306.8031496062992,&quot;left&quot;:62.5,&quot;top&quot;:204.4,&quot;width&quot;:1027.0156692913388}"/>
</p:tagLst>
</file>

<file path=ppt/tags/tag39.xml><?xml version="1.0" encoding="utf-8"?>
<p:tagLst xmlns:p="http://schemas.openxmlformats.org/presentationml/2006/main">
  <p:tag name="KSO_WM_DIAGRAM_VIRTUALLY_FRAME" val="{&quot;height&quot;:306.8031496062992,&quot;left&quot;:62.5,&quot;top&quot;:204.4,&quot;width&quot;:1027.0156692913388}"/>
</p:tagLst>
</file>

<file path=ppt/tags/tag40.xml><?xml version="1.0" encoding="utf-8"?>
<p:tagLst xmlns:p="http://schemas.openxmlformats.org/presentationml/2006/main">
  <p:tag name="KSO_WM_DIAGRAM_VIRTUALLY_FRAME" val="{&quot;height&quot;:306.8031496062992,&quot;left&quot;:62.5,&quot;top&quot;:204.4,&quot;width&quot;:1027.0156692913388}"/>
</p:tagLst>
</file>

<file path=ppt/tags/tag41.xml><?xml version="1.0" encoding="utf-8"?>
<p:tagLst xmlns:p="http://schemas.openxmlformats.org/presentationml/2006/main">
  <p:tag name="KSO_WM_DIAGRAM_VIRTUALLY_FRAME" val="{&quot;height&quot;:306.8031496062992,&quot;left&quot;:62.5,&quot;top&quot;:204.4,&quot;width&quot;:1027.0156692913388}"/>
</p:tagLst>
</file>

<file path=ppt/tags/tag42.xml><?xml version="1.0" encoding="utf-8"?>
<p:tagLst xmlns:p="http://schemas.openxmlformats.org/presentationml/2006/main">
  <p:tag name="KSO_WM_DIAGRAM_VIRTUALLY_FRAME" val="{&quot;height&quot;:306.8031496062992,&quot;left&quot;:62.5,&quot;top&quot;:204.4,&quot;width&quot;:1027.0156692913388}"/>
</p:tagLst>
</file>

<file path=ppt/tags/tag43.xml><?xml version="1.0" encoding="utf-8"?>
<p:tagLst xmlns:p="http://schemas.openxmlformats.org/presentationml/2006/main">
  <p:tag name="KSO_WM_DIAGRAM_VIRTUALLY_FRAME" val="{&quot;height&quot;:306.8031496062992,&quot;left&quot;:62.5,&quot;top&quot;:204.4,&quot;width&quot;:1027.0156692913388}"/>
</p:tagLst>
</file>

<file path=ppt/tags/tag44.xml><?xml version="1.0" encoding="utf-8"?>
<p:tagLst xmlns:p="http://schemas.openxmlformats.org/presentationml/2006/main">
  <p:tag name="KSO_WM_DIAGRAM_VIRTUALLY_FRAME" val="{&quot;height&quot;:306.8031496062992,&quot;left&quot;:62.5,&quot;top&quot;:204.4,&quot;width&quot;:1027.0156692913388}"/>
</p:tagLst>
</file>

<file path=ppt/tags/tag45.xml><?xml version="1.0" encoding="utf-8"?>
<p:tagLst xmlns:p="http://schemas.openxmlformats.org/presentationml/2006/main">
  <p:tag name="KSO_WM_DIAGRAM_VIRTUALLY_FRAME" val="{&quot;height&quot;:306.8031496062992,&quot;left&quot;:62.5,&quot;top&quot;:204.4,&quot;width&quot;:1027.0156692913388}"/>
</p:tagLst>
</file>

<file path=ppt/tags/tag46.xml><?xml version="1.0" encoding="utf-8"?>
<p:tagLst xmlns:p="http://schemas.openxmlformats.org/presentationml/2006/main">
  <p:tag name="KSO_WM_DIAGRAM_VIRTUALLY_FRAME" val="{&quot;height&quot;:306.8031496062992,&quot;left&quot;:62.5,&quot;top&quot;:204.4,&quot;width&quot;:1027.0156692913388}"/>
</p:tagLst>
</file>

<file path=ppt/tags/tag47.xml><?xml version="1.0" encoding="utf-8"?>
<p:tagLst xmlns:p="http://schemas.openxmlformats.org/presentationml/2006/main">
  <p:tag name="KSO_WM_DIAGRAM_VIRTUALLY_FRAME" val="{&quot;height&quot;:306.8031496062992,&quot;left&quot;:62.5,&quot;top&quot;:204.4,&quot;width&quot;:1027.0156692913388}"/>
</p:tagLst>
</file>

<file path=ppt/tags/tag48.xml><?xml version="1.0" encoding="utf-8"?>
<p:tagLst xmlns:p="http://schemas.openxmlformats.org/presentationml/2006/main">
  <p:tag name="KSO_WM_DIAGRAM_VIRTUALLY_FRAME" val="{&quot;height&quot;:306.8031496062992,&quot;left&quot;:62.5,&quot;top&quot;:204.4,&quot;width&quot;:1027.0156692913388}"/>
</p:tagLst>
</file>

<file path=ppt/tags/tag49.xml><?xml version="1.0" encoding="utf-8"?>
<p:tagLst xmlns:p="http://schemas.openxmlformats.org/presentationml/2006/main">
  <p:tag name="KSO_WM_DIAGRAM_VIRTUALLY_FRAME" val="{&quot;height&quot;:306.8031496062992,&quot;left&quot;:62.5,&quot;top&quot;:204.4,&quot;width&quot;:1027.0156692913388}"/>
</p:tagLst>
</file>

<file path=ppt/tags/tag50.xml><?xml version="1.0" encoding="utf-8"?>
<p:tagLst xmlns:p="http://schemas.openxmlformats.org/presentationml/2006/main">
  <p:tag name="KSO_WM_DIAGRAM_VIRTUALLY_FRAME" val="{&quot;height&quot;:306.8031496062992,&quot;left&quot;:62.5,&quot;top&quot;:204.4,&quot;width&quot;:1027.0156692913388}"/>
</p:tagLst>
</file>

<file path=ppt/tags/tag51.xml><?xml version="1.0" encoding="utf-8"?>
<p:tagLst xmlns:p="http://schemas.openxmlformats.org/presentationml/2006/main">
  <p:tag name="KSO_WM_DIAGRAM_VIRTUALLY_FRAME" val="{&quot;height&quot;:306.8031496062992,&quot;left&quot;:62.5,&quot;top&quot;:204.4,&quot;width&quot;:1027.0156692913388}"/>
</p:tagLst>
</file>

<file path=ppt/tags/tag52.xml><?xml version="1.0" encoding="utf-8"?>
<p:tagLst xmlns:p="http://schemas.openxmlformats.org/presentationml/2006/main">
  <p:tag name="KSO_WM_DIAGRAM_VIRTUALLY_FRAME" val="{&quot;height&quot;:306.8031496062992,&quot;left&quot;:62.5,&quot;top&quot;:204.4,&quot;width&quot;:1027.0156692913388}"/>
</p:tagLst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3595</Words>
  <Application>WPS Presentation</Application>
  <PresentationFormat>On-screen Show (16:9)</PresentationFormat>
  <Paragraphs>171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0" baseType="lpstr">
      <vt:lpstr>Arial</vt:lpstr>
      <vt:lpstr>SimSun</vt:lpstr>
      <vt:lpstr>Wingdings</vt:lpstr>
      <vt:lpstr>Verdana</vt:lpstr>
      <vt:lpstr>Raleway Bold</vt:lpstr>
      <vt:lpstr>Roboto</vt:lpstr>
      <vt:lpstr>Roboto</vt:lpstr>
      <vt:lpstr>Roboto</vt:lpstr>
      <vt:lpstr>Consolas</vt:lpstr>
      <vt:lpstr>Consolas</vt:lpstr>
      <vt:lpstr>Consolas</vt:lpstr>
      <vt:lpstr>Raleway Bold</vt:lpstr>
      <vt:lpstr>Raleway Bold</vt:lpstr>
      <vt:lpstr>Raleway Light</vt:lpstr>
      <vt:lpstr>Microsoft YaHei</vt:lpstr>
      <vt:lpstr>Arial Unicode MS</vt:lpstr>
      <vt:lpstr>Calibri</vt:lpstr>
      <vt:lpstr>Segoe Print</vt:lpstr>
      <vt:lpstr>MingLiU-ExtB</vt:lpstr>
      <vt:lpstr>Gear Drives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 Ndaeyo</cp:lastModifiedBy>
  <cp:revision>10</cp:revision>
  <dcterms:created xsi:type="dcterms:W3CDTF">2026-01-21T13:19:00Z</dcterms:created>
  <dcterms:modified xsi:type="dcterms:W3CDTF">2026-01-31T09:03:30Z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DFF7D863B1654754A9CC0834781E8736_12</vt:lpwstr>
  </property>
  <property fmtid="{D5CDD505-2E9C-101B-9397-08002B2CF9AE}" pid="3" name="KSOProductBuildVer">
    <vt:lpwstr>1033-12.2.0.23196</vt:lpwstr>
  </property>
</Properties>
</file>